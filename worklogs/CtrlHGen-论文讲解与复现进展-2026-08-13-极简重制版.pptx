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2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【建议用时】0:30</a:t>
            </a:r>
          </a:p>
          <a:p/>
          <a:p>
            <a:r>
              <a:t>【核心讲述】</a:t>
            </a:r>
          </a:p>
          <a:p>
            <a:r>
              <a:t>今天汇报两件事：先用六页讲清 CtrlHGen 的任务和机制，再重点说明我们如何把一个会跑但监督无效的公开流程，修成可审计、可复核的实验链路。最终定位是主要现象复现，而不是论文绝对数值逐点复刻。</a:t>
            </a:r>
          </a:p>
          <a:p/>
          <a:p>
            <a:r>
              <a:t>【转场】先从这个任务究竟在生成什么开始。</a:t>
            </a:r>
          </a:p>
          <a:p/>
          <a:p>
            <a:r>
              <a:t>【证据来源】论文 p.1 Abstract；worklogs/reproduction-report-2026-08-12.md 摘要</a:t>
            </a:r>
          </a:p>
          <a:p/>
          <a:p>
            <a:r>
              <a:t>【必要限定】不要把 CtrlHGen 说成自然语言解释模型；它生成可执行的一阶逻辑查询。</a:t>
            </a:r>
          </a:p>
          <a:p/>
          <a:p>
            <a:r>
              <a:t>【可能追问】问：为什么值得复现？答：它把生成、逻辑执行与用户控制放进同一闭环，且公开代码与论文设置存在值得核验的差异。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【建议用时】1:00</a:t>
            </a:r>
          </a:p>
          <a:p/>
          <a:p>
            <a:r>
              <a:t>【核心讲述】</a:t>
            </a:r>
          </a:p>
          <a:p>
            <a:r>
              <a:t>KGQA 是给查询找答案；这里反过来，给出观察实体集合，寻找能解释这些实体的查询。控制条件解决多解性：用户既可以限定语义焦点，也可以限定逻辑结构和复杂度。执行生成查询后得到答案集，再与观察比较，因此输出是可验证的。</a:t>
            </a:r>
          </a:p>
          <a:p/>
          <a:p>
            <a:r>
              <a:t>【转场】反向生成比正向问答多了两个特别棘手的问题。</a:t>
            </a:r>
          </a:p>
          <a:p/>
          <a:p>
            <a:r>
              <a:t>【证据来源】论文 p.2 Fig.1；p.4–5 Definition 3.1, Eq.(1–2)</a:t>
            </a:r>
          </a:p>
          <a:p/>
          <a:p>
            <a:r>
              <a:t>【必要限定】“最合理”通过集合相似度近似，不代表恢复唯一真实因果解释。</a:t>
            </a:r>
          </a:p>
          <a:p/>
          <a:p>
            <a:r>
              <a:t>【可能追问】问：一个观察能有多少解释？答：论文称 DBpedia50 平均每个观察约有 50 个合理假设。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【建议用时】1:00</a:t>
            </a:r>
          </a:p>
          <a:p/>
          <a:p>
            <a:r>
              <a:t>【核心讲述】</a:t>
            </a:r>
          </a:p>
          <a:p>
            <a:r>
              <a:t>第一个难点是长逻辑候选空间坍缩：候选数和 Jaccard 随长度下降。第二个难点是奖励过敏：只错一个谓词可能把答案集从目标两项扩成 45 项，Jaccard 只有 0.044，探索阶段几乎没有平滑方向。</a:t>
            </a:r>
          </a:p>
          <a:p/>
          <a:p>
            <a:r>
              <a:t>【转场】CtrlHGen 的所有设计都可以映射回这两个难点。</a:t>
            </a:r>
          </a:p>
          <a:p/>
          <a:p>
            <a:r>
              <a:t>【证据来源】论文 p.3 Fig.2</a:t>
            </a:r>
          </a:p>
          <a:p/>
          <a:p>
            <a:r>
              <a:t>【必要限定】图中百分数按论文原图展示；Jaccard 2/45 是论文示例。</a:t>
            </a:r>
          </a:p>
          <a:p/>
          <a:p>
            <a:r>
              <a:t>【可能追问】问：为什么不用 token-level 奖励？答：任务质量由逻辑执行后的答案集合定义，token 相似并不能保证执行语义。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【建议用时】1:00</a:t>
            </a:r>
          </a:p>
          <a:p/>
          <a:p>
            <a:r>
              <a:t>【核心讲述】</a:t>
            </a:r>
          </a:p>
          <a:p>
            <a:r>
              <a:t>框架分三步。先在 KG 上按 13 个 pattern 构造观察—假设对，并通过子逻辑分解增加复杂结构的学习信号；再做无条件和条件两阶段 SFT；最后让模型生成一组候选，在 KG 执行后以语义和条件奖励做 GRPO。</a:t>
            </a:r>
          </a:p>
          <a:p/>
          <a:p>
            <a:r>
              <a:t>【转场】先看第一项创新：如何让复杂逻辑可学。</a:t>
            </a:r>
          </a:p>
          <a:p/>
          <a:p>
            <a:r>
              <a:t>【证据来源】论文 p.4 Fig.3；p.5–7 Sec.3.2–3.4</a:t>
            </a:r>
          </a:p>
          <a:p/>
          <a:p>
            <a:r>
              <a:t>【必要限定】无条件 SFT 使用增广数据；条件 SFT 直接学习 observation+condition 到 hypothesis。</a:t>
            </a:r>
          </a:p>
          <a:p/>
          <a:p>
            <a:r>
              <a:t>【可能追问】问：KG 在推理时做检索吗？答：这里核心用途是执行生成查询、形成可验证反馈，不是把子图文本塞给模型。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【建议用时】0:55</a:t>
            </a:r>
          </a:p>
          <a:p/>
          <a:p>
            <a:r>
              <a:t>【核心讲述】</a:t>
            </a:r>
          </a:p>
          <a:p>
            <a:r>
              <a:t>子逻辑分解不是任意造样本，而是从同一个复杂假设中抽取结构和语义高度相关的简单子问题。例如 inp 可拆成两个 2p，并在 KG 上分别执行得到子观察。这相当于逻辑课程学习。控制接口则覆盖五类：pattern、实体数、关系数、指定实体、指定关系。</a:t>
            </a:r>
          </a:p>
          <a:p/>
          <a:p>
            <a:r>
              <a:t>【转场】有了可控 SFT，论文再用执行奖励做强化。</a:t>
            </a:r>
          </a:p>
          <a:p/>
          <a:p>
            <a:r>
              <a:t>【证据来源】论文 p.5 Eq.(3)；p.7 Fig.4；p.15 Appendix A</a:t>
            </a:r>
          </a:p>
          <a:p/>
          <a:p>
            <a:r>
              <a:t>【必要限定】论文只对 up、3in、pni、pin、inp 五类复杂 pattern 做分解；不是任意 FOL 分解器。</a:t>
            </a:r>
          </a:p>
          <a:p/>
          <a:p>
            <a:r>
              <a:t>【可能追问】问：一个统一模型支持所有控制吗？答：论文 Sec.3.3 更接近按控制类型分别微调，不能过度概括成单模型任意切换。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【建议用时】1:10</a:t>
            </a:r>
          </a:p>
          <a:p/>
          <a:p>
            <a:r>
              <a:t>【核心讲述】</a:t>
            </a:r>
          </a:p>
          <a:p>
            <a:r>
              <a:t>语义奖励把严格的 Jaccard 与更平滑的 Dice、Overlap 组合，再加二值条件遵循。GRPO 对同一 prompt 的四个候选做组内标准化，所以关键不是绝对 reward 高，而是组内能否拉开差异。Table 3 显示：去条件奖励语义略升，但 Accuracy 从 93.5 掉到 68.3；说明这是显式的双目标权衡。</a:t>
            </a:r>
          </a:p>
          <a:p/>
          <a:p>
            <a:r>
              <a:t>【转场】下面从论文方法切到我们的复现边界。</a:t>
            </a:r>
          </a:p>
          <a:p/>
          <a:p>
            <a:r>
              <a:t>【证据来源】论文 p.6–7 Eq.(5–8)；p.10 Table 3</a:t>
            </a:r>
          </a:p>
          <a:p/>
          <a:p>
            <a:r>
              <a:t>【必要限定】Overlap 对完全包含的过生成可给 1；且 R_sem 最大 2、Rcond 最大 1，alpha=0.5 在原始量程并非严格等权。这是基于公式的分析。</a:t>
            </a:r>
          </a:p>
          <a:p/>
          <a:p>
            <a:r>
              <a:t>【可能追问】问：为什么三个集合指标都要报？答：它们容忍度不同，联合观察可避免单一指标误导。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【建议用时】0:50</a:t>
            </a:r>
          </a:p>
          <a:p/>
          <a:p>
            <a:r>
              <a:t>【核心讲述】</a:t>
            </a:r>
          </a:p>
          <a:p>
            <a:r>
              <a:t>我们的范围刻意收窄为 WN18RR+pattern、seed 42、单张 L20。最终采用作者代码意图的自洽 6 层 GPT-2，而论文正文是 12 层、4 张 A6000。由于模型、epoch、优化器和算力均不完全一致，目标是验证方法链路和主要现象。</a:t>
            </a:r>
          </a:p>
          <a:p/>
          <a:p>
            <a:r>
              <a:t>【转场】在这个边界下，我们的复现经历了三次关键转折。</a:t>
            </a:r>
          </a:p>
          <a:p/>
          <a:p>
            <a:r>
              <a:t>【证据来源】论文 Sec.4.1 / Appendix B；综合报告 §3</a:t>
            </a:r>
          </a:p>
          <a:p/>
          <a:p>
            <a:r>
              <a:t>【必要限定】不能把 6 层版本称为论文原设置，也不能把作者公开脚本逐行照跑视为可靠基线。</a:t>
            </a:r>
          </a:p>
          <a:p/>
          <a:p>
            <a:r>
              <a:t>【可能追问】问：为何不直接严格照论文？答：论文与公开配置/代码语义互有矛盾，且单卡资源不等价；我们选择可解释、可审计的设置。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【建议用时】0:55</a:t>
            </a:r>
          </a:p>
          <a:p/>
          <a:p>
            <a:r>
              <a:t>【核心讲述】</a:t>
            </a:r>
          </a:p>
          <a:p>
            <a:r>
              <a:t>A/B 先把配置、hash、checkpoint、逐样本评测和 tiny 链路打通。C-I 表面完成但结果全零；修复契约后 C-II 能生成；C-III 对齐作者意图但暴露结构与语义分离；C-IV 扩容找到覆盖瓶颈；Phase D 再修复 RL 数据和 prompt，最终冻结测试。</a:t>
            </a:r>
          </a:p>
          <a:p/>
          <a:p>
            <a:r>
              <a:t>【转场】第一处转折解释了为什么 loss 会骗人。</a:t>
            </a:r>
          </a:p>
          <a:p/>
          <a:p>
            <a:r>
              <a:t>【证据来源】综合报告 §4–6；worklogs/phase-a/b/c/d*.md</a:t>
            </a:r>
          </a:p>
          <a:p/>
          <a:p>
            <a:r>
              <a:t>【必要限定】时间线中的每个阶段都有独立 checkpoint 和证据，失败 checkpoint 禁止复用。</a:t>
            </a:r>
          </a:p>
          <a:p/>
          <a:p>
            <a:r>
              <a:t>【可能追问】问：是不是反复看 test 调参？答：训练和 GRPO 终点不读 test，但 parent 的 epoch45/50 bake-off 使用过同一 split，后面会明确列为局限。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【建议用时】1:15</a:t>
            </a:r>
          </a:p>
          <a:p/>
          <a:p>
            <a:r>
              <a:t>【核心讲述】</a:t>
            </a:r>
          </a:p>
          <a:p>
            <a:r>
              <a:t>C-I 的 conditional loss 能降，甚至 overfit 到约 0.006，但 EOS 和 parse 都是零。根因是 generation 临时切 left padding 后，fast-tokenizer backend 状态被保存；pair mask 随后错位，把 target 和 END 全部屏蔽。修复后我们固定训练 right padding、generation 局部 left padding，主动清理 backend，并让 active labels 精确等于 target+END。</a:t>
            </a:r>
          </a:p>
          <a:p/>
          <a:p>
            <a:r>
              <a:t>【转场】契约修复让模型会说合法逻辑，但还没解决说得对不对。</a:t>
            </a:r>
          </a:p>
          <a:p/>
          <a:p>
            <a:r>
              <a:t>【证据来源】worklogs/figures/briefing-minimal/phase-c-conditional-loss.png；综合报告 §5.2</a:t>
            </a:r>
          </a:p>
          <a:p/>
          <a:p>
            <a:r>
              <a:t>【必要限定】C-I 同时存在预算不足，不能把所有失败只归因于实现 bug；但 conditional 零结果有确定的契约根因。</a:t>
            </a:r>
          </a:p>
          <a:p/>
          <a:p>
            <a:r>
              <a:t>【可能追问】问：为什么 loss 还能下降？答：模型在错误的 active token 上优化，低 loss 并不代表目标逻辑受到监督。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【建议用时】0:55</a:t>
            </a:r>
          </a:p>
          <a:p/>
          <a:p>
            <a:r>
              <a:t>【核心讲述】</a:t>
            </a:r>
          </a:p>
          <a:p>
            <a:r>
              <a:t>C-II 修复后 Jaccard 0.3299、PA 0.3185。C-III 改成作者意图版后，PA 升到 0.5883、Smatch 也升，但 Jaccard 反降到 0.2690。模型更会生成指定的形状，却没有正确实例化实体和关系。这说明控制能力和答案集合语义必须分开看。</a:t>
            </a:r>
          </a:p>
          <a:p/>
          <a:p>
            <a:r>
              <a:t>【转场】于是我们做了目前最干净的规模比较。</a:t>
            </a:r>
          </a:p>
          <a:p/>
          <a:p>
            <a:r>
              <a:t>【证据来源】worklogs/figures/briefing-minimal/phase-c-jaccard-pattern-accuracy.png；综合报告 §5.3–5.4</a:t>
            </a:r>
          </a:p>
          <a:p/>
          <a:p>
            <a:r>
              <a:t>【必要限定】C-II 到 C-III 同时改变层数、optimizer、LR 等，不能归因给单个因素。</a:t>
            </a:r>
          </a:p>
          <a:p/>
          <a:p>
            <a:r>
              <a:t>【可能追问】问：PA 已提高为何 Jaccard 下降？答：pattern 只约束拓扑，具体实体/关系 token 错一个就会改变执行答案集。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【建议用时】1:10</a:t>
            </a:r>
          </a:p>
          <a:p/>
          <a:p>
            <a:r>
              <a:t>【核心讲述】</a:t>
            </a:r>
          </a:p>
          <a:p>
            <a:r>
              <a:t>C-III 到 C-IV 固定模型、优化器、LR、batch、seed 和 50+50 epoch，只把每 pattern 训练样本从 1024 扩到 8000。实体覆盖升到 81.86%，test 未见实体降到 3.34%，Jaccard 和 PA 同时跃升。关系覆盖始终 22/22，因此最直接解释是实体监督终于充分。</a:t>
            </a:r>
          </a:p>
          <a:p/>
          <a:p>
            <a:r>
              <a:t>【转场】SFT 到位以后，原始 GRPO 为什么仍只有小幅增益？</a:t>
            </a:r>
          </a:p>
          <a:p/>
          <a:p>
            <a:r>
              <a:t>【证据来源】综合报告 §5.5；worklogs/phase-c-2026-08-10.md</a:t>
            </a:r>
          </a:p>
          <a:p/>
          <a:p>
            <a:r>
              <a:t>【必要限定】这是强单变量证据，但数据增加也带来更多 optimizer steps，尚未做 compute-matched 消融，不能宣称覆盖是唯一原因。</a:t>
            </a:r>
          </a:p>
          <a:p/>
          <a:p>
            <a:r>
              <a:t>【可能追问】问：是否有数据泄漏？答：预检发现一条冲突后训练前停止；冻结 valid/test，只重采样冲突 train，最终跨 split 完整监督重合为零。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【建议用时】1:15</a:t>
            </a:r>
          </a:p>
          <a:p/>
          <a:p>
            <a:r>
              <a:t>【核心讲述】</a:t>
            </a:r>
          </a:p>
          <a:p>
            <a:r>
              <a:t>原 Phase D 复用 SFT 已见数据，且 raw prompt 末尾缺 SEP。completion 容易得到相同 reward，组内优势稀疏；它的绝对 reward 更高却不等于 GRPO 信号更好。repaired 版本联合使用 fresh RL-only 数据和显式 SEP，reward std 提高、KL 稳定，并从 pilot 的不确定趋势升级到 full validation 和 frozen test 的严格正区间。</a:t>
            </a:r>
          </a:p>
          <a:p/>
          <a:p>
            <a:r>
              <a:t>【转场】最后把最终模型与 SFT parent 和论文放在同一尺度上。</a:t>
            </a:r>
          </a:p>
          <a:p/>
          <a:p>
            <a:r>
              <a:t>【证据来源】phase-d trainer_state / rollout audit / validation comparison</a:t>
            </a:r>
          </a:p>
          <a:p/>
          <a:p>
            <a:r>
              <a:t>【必要限定】fresh data 与 SEP 是联合修复，当前不能分离各自贡献；60.55% 的组仍为零 reward 方差，信号并非完全充足。</a:t>
            </a:r>
          </a:p>
          <a:p/>
          <a:p>
            <a:r>
              <a:t>【可能追问】问：旧 KL=1703 是否模型发散？答：参数和 optimizer 均有限，后续窗口回落；属于 reverse-KL 聚合离群，保留现场后从完整 checkpoint 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【建议用时】1:20</a:t>
            </a:r>
          </a:p>
          <a:p/>
          <a:p>
            <a:r>
              <a:t>【核心讲述】</a:t>
            </a:r>
          </a:p>
          <a:p>
            <a:r>
              <a:t>在同一 1664 条 frozen test 上，repaired GRPO 相对 epoch-45 SFT parent 的 Jaccard、Dice、Overlap 全部提升；greedy 三项均值加 0.03625，sampled 加 0.04426，区间均高于零，同时 PA、Smatch、parse、EOS 没退化。对论文只作尺度参照：我们的 PA 略高、Smatch 接近，但集合指标仍低 0.11 到 0.13。</a:t>
            </a:r>
          </a:p>
          <a:p/>
          <a:p>
            <a:r>
              <a:t>【转场】所以最终结论需要同时包含‘做到了什么’和‘还不能说什么’。</a:t>
            </a:r>
          </a:p>
          <a:p/>
          <a:p>
            <a:r>
              <a:t>【证据来源】repaired-test/comparison.json；论文 p.10 Table 3</a:t>
            </a:r>
          </a:p>
          <a:p/>
          <a:p>
            <a:r>
              <a:t>【必要限定】paired bootstrap 描述固定模型、固定样本的不确定性，不是跨 seed 显著性；论文设置也不是同分布对照。</a:t>
            </a:r>
          </a:p>
          <a:p/>
          <a:p>
            <a:r>
              <a:t>【可能追问】问：为何 parent 是 epoch45？答：epoch50 是训练规则 best；epoch45 是为 Phase D 研究目标选择的 parent，两者指针和语义分开保留。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【建议用时】1:10</a:t>
            </a:r>
          </a:p>
          <a:p/>
          <a:p>
            <a:r>
              <a:t>【核心讲述】</a:t>
            </a:r>
          </a:p>
          <a:p>
            <a:r>
              <a:t>可以较强地说：条件控制有效，修复后的 GRPO 能继续改善集合语义；监督契约、实体覆盖和组内 RL 信号是本次复现的三个关键因素。不能说已经严格复现论文绝对值。下一步最有信息量的是 depth-only 12 层、多 seed、fresh×SEP 的 2×2 消融，以及重新保留 untouched test。</a:t>
            </a:r>
          </a:p>
          <a:p/>
          <a:p>
            <a:r>
              <a:t>【转场】主讲到这里，后面三页作为答疑备份。</a:t>
            </a:r>
          </a:p>
          <a:p/>
          <a:p>
            <a:r>
              <a:t>【证据来源】综合报告 §9, §11</a:t>
            </a:r>
          </a:p>
          <a:p/>
          <a:p>
            <a:r>
              <a:t>【必要限定】当前只有 WN18RR+pattern，不能外推到论文全部数据集与控制类型。</a:t>
            </a:r>
          </a:p>
          <a:p/>
          <a:p>
            <a:r>
              <a:t>【可能追问】问：优先做哪一个实验？答：先做 12 层 depth-only 和多 seed，它们最直接回答剩余绝对差距和稳定性。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【建议用时】答疑</a:t>
            </a:r>
          </a:p>
          <a:p/>
          <a:p>
            <a:r>
              <a:t>【核心讲述】</a:t>
            </a:r>
          </a:p>
          <a:p>
            <a:r>
              <a:t>这页给出 greedy 与 sampled 全量指标，并解释测试隔离。epoch50 是训练期 best，epoch45 是 Phase D parent；parent bake-off 曾使用该 test split，因此最终 paired 改善仍可解释，但整条模型选择链不能称为 untouched holdout。</a:t>
            </a:r>
          </a:p>
          <a:p/>
          <a:p>
            <a:r>
              <a:t>【转场】回到结论页结束。</a:t>
            </a:r>
          </a:p>
          <a:p/>
          <a:p>
            <a:r>
              <a:t>【证据来源】repaired-test/comparison.json；综合报告 §5.6, §6.4, §9</a:t>
            </a:r>
          </a:p>
          <a:p/>
          <a:p>
            <a:r>
              <a:t>【必要限定】评测 repaired terminal 后已禁止继续训练或 checkpoint 选择。</a:t>
            </a:r>
          </a:p>
          <a:p/>
          <a:p>
            <a:r>
              <a:t>【可能追问】问：CI 能否代表论文差距显著？答：不能，它只针对当前固定模型在 1664 条记录上的配对差异。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40080" y="621792"/>
            <a:ext cx="10899648" cy="0"/>
          </a:xfrm>
          <a:prstGeom prst="line">
            <a:avLst/>
          </a:prstGeom>
          <a:ln w="1905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82296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ICLR 2026 · REPRODUCTION BRIEFING</a:t>
            </a:r>
            <a:endParaRPr sz="10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07040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CtrlHGen：可控逻辑假设生成</a:t>
            </a:r>
            <a:endParaRPr sz="34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与复现进展</a:t>
            </a:r>
            <a:endParaRPr sz="34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" y="3063240"/>
            <a:ext cx="98755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从论文机制到可审计实验链路</a:t>
            </a:r>
            <a:endParaRPr sz="1900" b="0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94944" y="4041648"/>
            <a:ext cx="2048256" cy="0"/>
          </a:xfrm>
          <a:prstGeom prst="line">
            <a:avLst/>
          </a:prstGeom>
          <a:ln w="1016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261104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可控溯因 = 执行语义 + 条件遵循</a:t>
            </a:r>
            <a:endParaRPr sz="170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570585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汇报人：</a:t>
            </a:r>
            <a:r>
              <a:rPr lang="zh-CN" sz="11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郭澄语</a:t>
            </a:r>
            <a:endParaRPr lang="zh-CN" sz="11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任务：从观察实体集合反求可控逻辑查询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TASK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2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aper-fig1-controll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980" y="1069848"/>
            <a:ext cx="10521279" cy="43434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68096" y="5632704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562356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同一观察 O 可以有多种合理 H；控制 C 决定语义焦点或结构复杂度。</a:t>
            </a:r>
            <a:endParaRPr sz="14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两个核心难题：候选空间收缩与奖励过敏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MOTIVATION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3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aper-fig2-challeng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18509"/>
            <a:ext cx="10698480" cy="34186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577840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长逻辑：</a:t>
            </a:r>
            <a:r>
              <a:rPr sz="14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候选 55.36 → 12.97，Jaccard 86.2 → 60.6</a:t>
            </a: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   |    单谓词错误：</a:t>
            </a:r>
            <a:r>
              <a:rPr sz="145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Jaccard = 2/45 = 0.044</a:t>
            </a:r>
            <a:endParaRPr sz="145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CtrlHGen 总体框架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METHOD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4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aper-fig3-framework.png"/>
          <p:cNvPicPr>
            <a:picLocks noChangeAspect="1"/>
          </p:cNvPicPr>
          <p:nvPr/>
        </p:nvPicPr>
        <p:blipFill>
          <a:blip r:embed="rId1"/>
          <a:srcRect l="3825" t="8543" r="7924" b="5187"/>
          <a:stretch>
            <a:fillRect/>
          </a:stretch>
        </p:blipFill>
        <p:spPr>
          <a:xfrm>
            <a:off x="2625090" y="969645"/>
            <a:ext cx="6941820" cy="4438015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68096" y="565099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564184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数据构造与分解 → 两阶段 SFT → KG 执行反馈与 GRPO。</a:t>
            </a:r>
            <a:endParaRPr sz="14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子逻辑分解与控制接口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METHOD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5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1225296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课程式增广：从复杂结构抽取同源子任务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143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inp</a:t>
            </a:r>
            <a:endParaRPr sz="30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148840" y="2121408"/>
            <a:ext cx="77724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62656" y="1609344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2p  →  O_A</a:t>
            </a:r>
            <a:endParaRPr sz="23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23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2p  →  O_B</a:t>
            </a:r>
            <a:endParaRPr sz="23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3127248"/>
            <a:ext cx="4315968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不是任意造样本：子逻辑来自同一个复杂假设，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并在 KG 上重新执行得到子观察。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1207008"/>
            <a:ext cx="0" cy="402336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paper-fig4-pattern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88" y="1582314"/>
            <a:ext cx="5074920" cy="24589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16752" y="457200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五类控制：pattern  ·  实体数  ·  关系数</a:t>
            </a:r>
            <a:endParaRPr sz="15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5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指定实体  ·  指定关系</a:t>
            </a:r>
            <a:endParaRPr sz="15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68096" y="565099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564184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8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论文只分解 up / 3in / pni / pin / inp 五类复杂 pattern。</a:t>
            </a:r>
            <a:endParaRPr sz="138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双奖励 GRPO：语义质量与控制遵循的权衡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PAPER · METHOD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6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6384" y="1234440"/>
            <a:ext cx="4617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Reward definition</a:t>
            </a:r>
            <a:endParaRPr sz="17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663440" cy="888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R_sem = Jaccard + 0.5 Dice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+ 0.5 Overlap</a:t>
            </a:r>
            <a:endParaRPr sz="17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R_cond = 1[ H satisfies C ]</a:t>
            </a:r>
            <a:endParaRPr sz="17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 = 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α *</a:t>
            </a: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R_sem +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(1-</a:t>
            </a:r>
            <a:r>
              <a:rPr lang="en-US"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α) *</a:t>
            </a:r>
            <a:r>
              <a:rPr sz="17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0.5 R_cond</a:t>
            </a:r>
            <a:endParaRPr sz="17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4443984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同一 prompt 采样 k = 4 个候选</a:t>
            </a:r>
            <a:endParaRPr sz="14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组内标准化相对奖励；KL 约束策略漂移</a:t>
            </a:r>
            <a:endParaRPr sz="14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4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关键是组内能否形成可排序差异</a:t>
            </a:r>
            <a:endParaRPr sz="14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650992" y="1170432"/>
            <a:ext cx="0" cy="413308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paper-table3-reward-abl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2340897"/>
            <a:ext cx="5504688" cy="14812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4919472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去掉条件奖励：集合语义略升，但 Accuracy 93.5 → 68.3。</a:t>
            </a:r>
            <a:endParaRPr sz="145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68096" y="565099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32688" y="564184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7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Table 3 表明：语义质量与条件遵循是明确的双目标，而非单一分数。</a:t>
            </a:r>
            <a:endParaRPr sz="137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复现范围与忠实度边界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SCOPE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7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98448"/>
          <a:ext cx="1074420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063240"/>
                <a:gridCol w="3063240"/>
                <a:gridCol w="3383280"/>
              </a:tblGrid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项目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论文正文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作者代码意图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本复现</a:t>
                      </a:r>
                      <a:endParaRPr sz="13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模型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12-layer GPT-2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GPT2_6 / num_layers: 6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explicit n_layer = 6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优化与 LR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AdamW / 1e-5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Adam</a:t>
                      </a:r>
                      <a:r>
                        <a:rPr 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(SFT),AdamW(GRPO)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 / 5e-5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Adam(SFT), AdamW(GRPO)</a:t>
                      </a:r>
                      <a:r>
                        <a:rPr lang="en-US"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/5e-5</a:t>
                      </a:r>
                      <a:endParaRPr lang="en-US"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716889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训练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400 + 50 epoch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50 epoch</a:t>
                      </a:r>
                      <a:r>
                        <a:rPr lang="zh-CN" alt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（从某</a:t>
                      </a:r>
                      <a:r>
                        <a:rPr lang="en-US" altLang="zh-CN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checkpoint resume</a:t>
                      </a:r>
                      <a:r>
                        <a:rPr lang="zh-CN" alt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）</a:t>
                      </a:r>
                      <a:endParaRPr lang="zh-CN" altLang="en-US"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50 + 50 epoch, seed 42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716892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资源与范围</a:t>
                      </a:r>
                      <a:endParaRPr sz="12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4 × A6000 / 3 KG / 5 controls</a:t>
                      </a:r>
                      <a:endParaRPr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---</a:t>
                      </a:r>
                      <a:endParaRPr lang="en-US" sz="12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 × L20 / WN18RR / pattern</a:t>
                      </a:r>
                      <a:endParaRPr sz="12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212080"/>
            <a:ext cx="10378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定位：方法与主要现象复现，不是论文绝对数值逐点复刻。</a:t>
            </a:r>
            <a:endParaRPr sz="18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复现路线：从“能跑”到“可信”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JOURNEY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8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4400" y="3218688"/>
            <a:ext cx="10241280" cy="0"/>
          </a:xfrm>
          <a:prstGeom prst="line">
            <a:avLst/>
          </a:prstGeom>
          <a:ln w="1397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86968" y="3145536"/>
            <a:ext cx="146304" cy="146304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A/B</a:t>
            </a:r>
            <a:endParaRPr sz="1300" b="1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6616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基础设施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smoke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 flipV="1">
            <a:off x="960120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304288" y="3145536"/>
            <a:ext cx="146304" cy="146304"/>
          </a:xfrm>
          <a:prstGeom prst="ellipse">
            <a:avLst/>
          </a:prstGeom>
          <a:solidFill>
            <a:srgbClr val="9C0006"/>
          </a:solidFill>
          <a:ln>
            <a:solidFill>
              <a:srgbClr val="9C00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C-I</a:t>
            </a:r>
            <a:endParaRPr sz="130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3936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loss↓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指标全 0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2377440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675887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Fix 1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45535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监督契约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 flipV="1">
            <a:off x="3749039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047488" y="3145536"/>
            <a:ext cx="146304" cy="146304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404040"/>
                </a:solidFill>
                <a:latin typeface="Times New Roman" panose="02020603050405020304"/>
                <a:ea typeface="微软雅黑" panose="020B0503020204020204" charset="-122"/>
              </a:rPr>
              <a:t>C-II/III</a:t>
            </a:r>
            <a:endParaRPr sz="1300" b="1" i="0">
              <a:solidFill>
                <a:srgbClr val="404040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结构与语义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分离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120640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528816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C-IV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98464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覆盖扩容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 flipV="1">
            <a:off x="6601968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955279" y="3145536"/>
            <a:ext cx="146304" cy="146304"/>
          </a:xfrm>
          <a:prstGeom prst="ellipse">
            <a:avLst/>
          </a:prstGeom>
          <a:solidFill>
            <a:srgbClr val="9C0006"/>
          </a:solidFill>
          <a:ln>
            <a:solidFill>
              <a:srgbClr val="9C00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25511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D-old</a:t>
            </a:r>
            <a:endParaRPr sz="130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24927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信号弱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KL 尖峰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8028431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345168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1874519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Fix 2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814816" y="219456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fresh + SEP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 flipV="1">
            <a:off x="9418320" y="2770632"/>
            <a:ext cx="0" cy="33832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762488" y="3145536"/>
            <a:ext cx="146304" cy="146304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9" y="356616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Test</a:t>
            </a:r>
            <a:endParaRPr sz="13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32136" y="3886200"/>
            <a:ext cx="1207008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双解码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frozen</a:t>
            </a:r>
            <a:endParaRPr sz="125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10835640" y="3328416"/>
            <a:ext cx="0" cy="1645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68096" y="5559552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32688" y="5550408"/>
            <a:ext cx="10241280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三次</a:t>
            </a:r>
            <a:r>
              <a:rPr lang="zh-CN"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关键改变</a:t>
            </a:r>
            <a:r>
              <a:rPr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：监督契约 → 实体覆盖 → GRPO 组内信号。</a:t>
            </a:r>
            <a:endParaRPr sz="16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37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en-US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mask</a:t>
            </a:r>
            <a:r>
              <a:rPr lang="zh-CN" altLang="en-US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错位，</a:t>
            </a: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监督失效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DIAGNOSIS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9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hase-c-conditional-lo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94016"/>
            <a:ext cx="6565392" cy="3203622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360920" y="1170432"/>
            <a:ext cx="0" cy="418795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51420" y="1298575"/>
            <a:ext cx="4218305" cy="283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answers | COND | pattern | SEP</a:t>
            </a:r>
            <a:r>
              <a:rPr lang="en-US"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| </a:t>
            </a:r>
            <a:r>
              <a:rPr sz="16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target | END</a:t>
            </a:r>
            <a:endParaRPr sz="16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46517" y="1853311"/>
            <a:ext cx="3429000" cy="275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active labels = target + END</a:t>
            </a:r>
            <a:endParaRPr sz="16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7662672" y="2852928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根因</a:t>
            </a:r>
            <a:endParaRPr sz="155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7662672" y="3227832"/>
            <a:ext cx="3456432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left-padding backend 状态污染</a:t>
            </a:r>
            <a:endParaRPr sz="138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8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pair mask 错位；target / END 被屏蔽</a:t>
            </a:r>
            <a:endParaRPr sz="138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7662672" y="4315968"/>
            <a:ext cx="34015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修复</a:t>
            </a:r>
            <a:endParaRPr sz="155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7662672" y="4663440"/>
            <a:ext cx="3456432" cy="530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3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训练固定 right padding；生成局部切换</a:t>
            </a:r>
            <a:endParaRPr sz="133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3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Parse / EOS gate</a:t>
            </a:r>
            <a:endParaRPr sz="133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37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数据少的情况下学不会，尤其是</a:t>
            </a:r>
            <a:r>
              <a:rPr lang="zh-CN"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语义</a:t>
            </a:r>
            <a:endParaRPr lang="zh-CN"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EVIDENCE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10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hase-c-jaccard-pattern-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533" y="1078992"/>
            <a:ext cx="9710173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7552" y="5596128"/>
            <a:ext cx="1005840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2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C-II → C-III：</a:t>
            </a:r>
            <a:r>
              <a:rPr sz="142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Pattern Accuracy 0.3185 → 0.5883</a:t>
            </a:r>
            <a:r>
              <a:rPr sz="1420" b="1" i="0">
                <a:solidFill>
                  <a:srgbClr val="9C0006"/>
                </a:solidFill>
                <a:latin typeface="Times New Roman" panose="02020603050405020304"/>
                <a:ea typeface="微软雅黑" panose="020B0503020204020204" charset="-122"/>
              </a:rPr>
              <a:t>，Jaccard 0.3299 → 0.2690</a:t>
            </a:r>
            <a:endParaRPr sz="1420" b="1" i="0">
              <a:solidFill>
                <a:srgbClr val="9C0006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38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最强单变量</a:t>
            </a:r>
            <a:r>
              <a:rPr lang="zh-CN"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提升</a:t>
            </a: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：训练覆盖扩容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EVIDENCE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11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152144"/>
            <a:ext cx="1069848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train / pattern    1,024  →  8,000    (7.81×)</a:t>
            </a:r>
            <a:endParaRPr sz="24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78992" y="1874519"/>
          <a:ext cx="1005839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057400"/>
                <a:gridCol w="2057400"/>
                <a:gridCol w="2194560"/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指标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C-III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C-IV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变化</a:t>
                      </a:r>
                      <a:endParaRPr sz="140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实体词表覆盖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35.41%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81.86%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+46.45 pp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test 未见实体 occurrence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27.70%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3.34%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−24.37 pp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greedy Jaccard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0.2690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0.5969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+0.3279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Pattern Accuracy</a:t>
                      </a:r>
                      <a:endParaRPr sz="14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0.5883</a:t>
                      </a:r>
                      <a:endParaRPr sz="145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0.9441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+0.3558</a:t>
                      </a:r>
                      <a:endParaRPr sz="145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266944"/>
            <a:ext cx="10195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关系始终 22/22 覆盖；最直接解释是实体监督被补足。</a:t>
            </a:r>
            <a:endParaRPr sz="16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转折三：高 reward 不等于有效 GRPO 信号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GRPO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12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hase-d-grpo-sig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94966"/>
            <a:ext cx="6995160" cy="315717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7754112" y="1170432"/>
            <a:ext cx="0" cy="4270248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phase-d-semantic-g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1926146"/>
            <a:ext cx="3547872" cy="17895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65008" y="4526280"/>
            <a:ext cx="3273552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6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Original：复用 SFT 数据，缺 SEP</a:t>
            </a:r>
            <a:endParaRPr sz="136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 algn="ctr">
              <a:lnSpc>
                <a:spcPct val="112000"/>
              </a:lnSpc>
            </a:pPr>
            <a:r>
              <a:rPr sz="136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Repaired：fresh RL-only + 显式 SEP</a:t>
            </a:r>
            <a:endParaRPr sz="136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768096" y="5641848"/>
            <a:ext cx="0" cy="347472"/>
          </a:xfrm>
          <a:prstGeom prst="line">
            <a:avLst/>
          </a:prstGeom>
          <a:ln w="3048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5632704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3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repaired 版本组内 reward std 更高、KL 更稳定；full / test 配对区间均高于 0。</a:t>
            </a:r>
            <a:endParaRPr sz="133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最终结果：主要现象已复现，绝对差距仍在</a:t>
            </a:r>
            <a:endParaRPr sz="22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RESULT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13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nal-metric-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25" y="1005840"/>
            <a:ext cx="10411469" cy="44988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577840"/>
            <a:ext cx="10469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2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Greedy Δmean = +0.03625  CI [0.02506, 0.04773]</a:t>
            </a:r>
            <a:r>
              <a:rPr sz="132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    |    </a:t>
            </a:r>
            <a:r>
              <a:rPr sz="132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Sampled Δmean = +0.04426  CI [0.02864, 0.05991]</a:t>
            </a:r>
            <a:endParaRPr sz="132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结论、证据边界与下一步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REPRO · CONCLUSION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14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700530"/>
            <a:ext cx="2880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已经得到的证据</a:t>
            </a:r>
            <a:endParaRPr sz="18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814955"/>
            <a:ext cx="2926080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论文方法链路</a:t>
            </a: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有效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监督、覆盖与 RL 信号均可审计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3776472" y="1389888"/>
            <a:ext cx="0" cy="38221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60520" y="1702435"/>
            <a:ext cx="288036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lang="zh-CN"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限制</a:t>
            </a:r>
            <a:r>
              <a:rPr lang="zh-CN"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与不足</a:t>
            </a:r>
            <a:endParaRPr lang="zh-CN" sz="18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60520" y="2756535"/>
            <a:ext cx="2926080" cy="1089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语义性指标差距较大（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模型小）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单 seed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251192" y="1389888"/>
            <a:ext cx="0" cy="3822192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71105" y="1702435"/>
            <a:ext cx="2880360" cy="309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下一步</a:t>
            </a:r>
            <a:r>
              <a:rPr lang="zh-CN" sz="180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？</a:t>
            </a:r>
            <a:endParaRPr lang="zh-CN" sz="180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5240" y="2756535"/>
            <a:ext cx="2926080" cy="67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12 层</a:t>
            </a:r>
            <a:r>
              <a:rPr lang="en-US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 </a:t>
            </a:r>
            <a:r>
              <a:rPr lang="zh-CN" altLang="en-US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？</a:t>
            </a:r>
            <a:endParaRPr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•  </a:t>
            </a:r>
            <a:r>
              <a:rPr lang="zh-CN" sz="1520" b="0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新改进</a:t>
            </a:r>
            <a:endParaRPr lang="zh-CN" sz="1520" b="0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" y="5321808"/>
            <a:ext cx="102870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7365D"/>
                </a:solidFill>
                <a:latin typeface="Times New Roman" panose="02020603050405020304"/>
                <a:ea typeface="微软雅黑" panose="020B0503020204020204" charset="-122"/>
              </a:rPr>
              <a:t>核心方法现象已复现；结构控制已强，实体—关系实例化后的集合语义仍是主要差距。</a:t>
            </a:r>
            <a:endParaRPr sz="1700" b="1" i="0">
              <a:solidFill>
                <a:srgbClr val="17365D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56032"/>
            <a:ext cx="9281160" cy="438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50" b="1" i="0">
                <a:solidFill>
                  <a:srgbClr val="1A1A1A"/>
                </a:solidFill>
                <a:latin typeface="Times New Roman" panose="02020603050405020304"/>
                <a:ea typeface="微软雅黑" panose="020B0503020204020204" charset="-122"/>
              </a:rPr>
              <a:t>备份：完整双解码指标</a:t>
            </a:r>
            <a:endParaRPr sz="2550" b="1" i="0">
              <a:solidFill>
                <a:srgbClr val="1A1A1A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48672" y="310896"/>
            <a:ext cx="161848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BACKUP</a:t>
            </a:r>
            <a:endParaRPr sz="90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21792" y="841248"/>
            <a:ext cx="10945368" cy="0"/>
          </a:xfrm>
          <a:prstGeom prst="line">
            <a:avLst/>
          </a:prstGeom>
          <a:ln w="15875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338560" y="6428232"/>
            <a:ext cx="2286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850" b="0" i="0">
                <a:solidFill>
                  <a:srgbClr val="696969"/>
                </a:solidFill>
                <a:latin typeface="Times New Roman" panose="02020603050405020304"/>
                <a:ea typeface="微软雅黑" panose="020B0503020204020204" charset="-122"/>
              </a:rPr>
              <a:t>17</a:t>
            </a:r>
            <a:endParaRPr sz="850" b="0" i="0">
              <a:solidFill>
                <a:srgbClr val="696969"/>
              </a:solidFill>
              <a:latin typeface="Times New Roman" panose="02020603050405020304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621792" y="6291072"/>
            <a:ext cx="1094536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87374" y="1893697"/>
          <a:ext cx="9857105" cy="2688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234440"/>
                <a:gridCol w="1115568"/>
                <a:gridCol w="1143000"/>
                <a:gridCol w="1024128"/>
                <a:gridCol w="1115568"/>
                <a:gridCol w="1115568"/>
                <a:gridCol w="1051560"/>
              </a:tblGrid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解码 / 模型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Jaccard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Dice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Overlap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PA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Smatch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Parse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EOS</a:t>
                      </a:r>
                      <a:endParaRPr sz="1150" b="1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3F3F3"/>
                    </a:solidFill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Greedy · SFT parent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0.60304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0.65173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0.72159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0.94291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0.81676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0.99159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Greedy · Repaired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0.63667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0.68702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0.76142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0.95433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0.82006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0.99219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667"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Sampled · SFT parent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0.55997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0.60575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0.67287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0.94351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0.81270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0.99038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0" i="0">
                          <a:solidFill>
                            <a:srgbClr val="1A1A1A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0" i="0">
                        <a:solidFill>
                          <a:srgbClr val="1A1A1A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668"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Sampled · Repaired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0.60490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0.65023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0.71625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0.95132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0.81681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0.99399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0" b="1" i="0">
                          <a:solidFill>
                            <a:srgbClr val="17365D"/>
                          </a:solidFill>
                          <a:latin typeface="Times New Roman" panose="02020603050405020304"/>
                          <a:ea typeface="微软雅黑" panose="020B0503020204020204" charset="-122"/>
                        </a:rPr>
                        <a:t>1.00000</a:t>
                      </a:r>
                      <a:endParaRPr sz="1120" b="1" i="0">
                        <a:solidFill>
                          <a:srgbClr val="17365D"/>
                        </a:solidFill>
                        <a:latin typeface="Times New Roman" panose="02020603050405020304"/>
                        <a:ea typeface="微软雅黑" panose="020B0503020204020204" charset="-122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ags/tag2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ags/tag3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ags/tag4.xml><?xml version="1.0" encoding="utf-8"?>
<p:tagLst xmlns:p="http://schemas.openxmlformats.org/presentationml/2006/main">
  <p:tag name="KSO_WM_DIAGRAM_VIRTUALLY_FRAME" val="{&quot;height&quot;:194.39999999999995,&quot;left&quot;:603.36,&quot;top&quot;:224.64000000000001,&quot;width&quot;:272.1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2646</Words>
  <Application>WPS 演示</Application>
  <PresentationFormat>On-screen Show (4:3)</PresentationFormat>
  <Paragraphs>376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Calibri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飞翔的比萨</cp:lastModifiedBy>
  <cp:revision>5</cp:revision>
  <dcterms:created xsi:type="dcterms:W3CDTF">2013-01-27T09:14:00Z</dcterms:created>
  <dcterms:modified xsi:type="dcterms:W3CDTF">2026-08-13T16:37:15Z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43BCDF6F04004BC58B5C23822E7A982D_12</vt:lpwstr>
  </property>
</Properties>
</file>